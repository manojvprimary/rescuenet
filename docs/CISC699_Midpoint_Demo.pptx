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Seconds to a scored assignment (target about 30)</a:t>
            </a:r>
          </a:p>
        </c:rich>
      </c:tx>
      <c:layout/>
      <c:overlay val="0"/>
    </c:title>
    <c:autoTitleDeleted val="0"/>
    <c:plotArea>
      <c:layout/>
      <c:barChart>
        <c:barDir val="col"/>
        <c:grouping val="clustered"/>
        <c:varyColors val="0"/>
        <c:ser>
          <c:idx val="0"/>
          <c:order val="0"/>
          <c:tx>
            <c:strRef>
              <c:f>Sheet1!$B$1</c:f>
              <c:strCache>
                <c:ptCount val="1"/>
                <c:pt idx="0">
                  <c:v>v1 (llm)</c:v>
                </c:pt>
              </c:strCache>
            </c:strRef>
          </c:tx>
          <c:spPr>
            <a:solidFill>
              <a:srgbClr val="B7791F"/>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injured+loose 1</c:v>
                  </c:pt>
                  <c:pt idx="1">
                    <c:v>injured+loose 2</c:v>
                  </c:pt>
                  <c:pt idx="2">
                    <c:v>injured 1</c:v>
                  </c:pt>
                  <c:pt idx="3">
                    <c:v>injured 2</c:v>
                  </c:pt>
                  <c:pt idx="4">
                    <c:v>loose 1</c:v>
                  </c:pt>
                  <c:pt idx="5">
                    <c:v>loose 2</c:v>
                  </c:pt>
                </c:lvl>
              </c:multiLvlStrCache>
            </c:multiLvlStrRef>
          </c:cat>
          <c:val>
            <c:numRef>
              <c:f>Sheet1!$B$2:$B$7</c:f>
              <c:numCache>
                <c:formatCode>General</c:formatCode>
                <c:ptCount val="6"/>
                <c:pt idx="0">
                  <c:v>29.2</c:v>
                </c:pt>
                <c:pt idx="1">
                  <c:v>25.3</c:v>
                </c:pt>
                <c:pt idx="2">
                  <c:v>24.8</c:v>
                </c:pt>
                <c:pt idx="3">
                  <c:v>24.7</c:v>
                </c:pt>
                <c:pt idx="4">
                  <c:v>23</c:v>
                </c:pt>
                <c:pt idx="5">
                  <c:v>24.5</c:v>
                </c:pt>
              </c:numCache>
            </c:numRef>
          </c:val>
        </c:ser>
        <c:ser>
          <c:idx val="1"/>
          <c:order val="1"/>
          <c:tx>
            <c:strRef>
              <c:f>Sheet1!$C$1</c:f>
              <c:strCache>
                <c:ptCount val="1"/>
                <c:pt idx="0">
                  <c:v>v2 (blend)</c:v>
                </c:pt>
              </c:strCache>
            </c:strRef>
          </c:tx>
          <c:spPr>
            <a:solidFill>
              <a:srgbClr val="1D4E89"/>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injured+loose 1</c:v>
                  </c:pt>
                  <c:pt idx="1">
                    <c:v>injured+loose 2</c:v>
                  </c:pt>
                  <c:pt idx="2">
                    <c:v>injured 1</c:v>
                  </c:pt>
                  <c:pt idx="3">
                    <c:v>injured 2</c:v>
                  </c:pt>
                  <c:pt idx="4">
                    <c:v>loose 1</c:v>
                  </c:pt>
                  <c:pt idx="5">
                    <c:v>loose 2</c:v>
                  </c:pt>
                </c:lvl>
              </c:multiLvlStrCache>
            </c:multiLvlStrRef>
          </c:cat>
          <c:val>
            <c:numRef>
              <c:f>Sheet1!$C$2:$C$7</c:f>
              <c:numCache>
                <c:formatCode>General</c:formatCode>
                <c:ptCount val="6"/>
                <c:pt idx="0">
                  <c:v>23.2</c:v>
                </c:pt>
                <c:pt idx="1">
                  <c:v>23.3</c:v>
                </c:pt>
                <c:pt idx="2">
                  <c:v>24.6</c:v>
                </c:pt>
                <c:pt idx="3">
                  <c:v>24.6</c:v>
                </c:pt>
                <c:pt idx="4">
                  <c:v>24.6</c:v>
                </c:pt>
                <c:pt idx="5">
                  <c:v>23.6</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Winner matches the annotated best shelter</a:t>
            </a:r>
          </a:p>
        </c:rich>
      </c:tx>
      <c:layout/>
      <c:overlay val="0"/>
    </c:title>
    <c:autoTitleDeleted val="0"/>
    <c:plotArea>
      <c:layout/>
      <c:barChart>
        <c:barDir val="bar"/>
        <c:grouping val="clustered"/>
        <c:varyColors val="0"/>
        <c:ser>
          <c:idx val="0"/>
          <c:order val="0"/>
          <c:tx>
            <c:strRef>
              <c:f>Sheet1!$B$1</c:f>
              <c:strCache>
                <c:ptCount val="1"/>
                <c:pt idx="0">
                  <c:v>Matches annotation (of 6)</c:v>
                </c:pt>
              </c:strCache>
            </c:strRef>
          </c:tx>
          <c:spPr>
            <a:solidFill>
              <a:srgbClr val="B7791F"/>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B7791F"/>
              </a:solidFill>
              <a:effectLst/>
            </c:spPr>
          </c:dPt>
          <c:dPt>
            <c:idx val="1"/>
            <c:invertIfNegative val="0"/>
            <c:bubble3D val="0"/>
            <c:spPr>
              <a:solidFill>
                <a:srgbClr val="1D4E89"/>
              </a:solidFill>
              <a:effectLst/>
            </c:spPr>
          </c:dPt>
          <c:dPt>
            <c:idx val="2"/>
            <c:invertIfNegative val="0"/>
            <c:bubble3D val="0"/>
            <c:spPr>
              <a:solidFill>
                <a:srgbClr val="8FA9C9"/>
              </a:solidFill>
              <a:effectLst/>
            </c:spPr>
          </c:dPt>
          <c:cat>
            <c:multiLvlStrRef>
              <c:f>Sheet1!$A$2:$A$4</c:f>
              <c:multiLvlStrCache>
                <c:ptCount val="3"/>
                <c:lvl>
                  <c:pt idx="0">
                    <c:v>v1 (live LLM weights)</c:v>
                  </c:pt>
                  <c:pt idx="1">
                    <c:v>v2, raw top score</c:v>
                  </c:pt>
                  <c:pt idx="2">
                    <c:v>v2, tie rule</c:v>
                  </c:pt>
                </c:lvl>
              </c:multiLvlStrCache>
            </c:multiLvlStrRef>
          </c:cat>
          <c:val>
            <c:numRef>
              <c:f>Sheet1!$B$2:$B$4</c:f>
              <c:numCache>
                <c:formatCode>General</c:formatCode>
                <c:ptCount val="3"/>
                <c:pt idx="0">
                  <c:v>3</c:v>
                </c:pt>
                <c:pt idx="1">
                  <c:v>3</c:v>
                </c:pt>
                <c:pt idx="2">
                  <c:v>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635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slide-supported version of the midpoint demo. It is late: the assignment was due October 18. There was no live review session, so I am presenting the evidence as slides. Every number is from a real run recorded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from the assignment: did I present the project as it is, or as I hoped it would be? As it is, the weighting method works mechanically, is deployed behind a flag and was measured without regression. It has not been shown to route better than the baseline, and everything rests on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is the existing system, unchanged by default. Blue is what changed this term and is deployed behind a flag. Amber runs offline. Red is pending and grey is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real cases per mode went through the deployed pipeline, same reports, different locations. The needs profile shows how each case weights the five factors. Under llm the model writes the weights; under blend the model only gives archetype probabilities and the weights are computed in code from the adopted AHP vectors. The winner is the same in both, because one shelter dominates the seeded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is submission to a scored assignment, which includes the fixed fifteen second bid window. Both modes sit between about 23 and 29 seconds against a 30 second target. This is one environment with demo data, and each block began on freshly reconfigured functions, so treat it as indicative, not a production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annotations, 6 cases with a single best shelter. By raw top score both methods match 3 of 6 and choose the same shelter in every case. The extra two wins for v2 come only from the alphabetical tie rule that was written down before the run, and that happens to agree with the annotations. I report both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against the original requirements. SC5, supervisor acceptance, is not yet because no supervisor review has taken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live midpoint review took place, so the critique on record is the Hard Stop 3 feedback. Each of the instructor's priorities became a backlog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decision is tied to evidence. The one cut is the fairness check: with eight cases and one dominant shelter in the roster it would show that shelter, not a pattern, and it would not change any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that must not slip is pre-registered cases, then the ablation, then the independent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are in the memo too. The deployment evidence is real but narrow.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fairness check is already cut. If more has to go, classifier calibration is next. The ablation, independent annotation and the review records are not to be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4C46"/>
          </a:solidFill>
          <a:ln/>
        </p:spPr>
      </p:sp>
      <p:sp>
        <p:nvSpPr>
          <p:cNvPr id="3" name="Text 1"/>
          <p:cNvSpPr txBox="1"/>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5B6470"/>
                </a:solidFill>
                <a:latin typeface="Calibri" pitchFamily="34" charset="0"/>
                <a:ea typeface="Calibri" pitchFamily="34" charset="-122"/>
                <a:cs typeface="Calibri" pitchFamily="34" charset="-120"/>
              </a:rPr>
              <a:t>CISC 699 | Midpoint | Manoj Venkatachalaiah</a:t>
            </a:r>
            <a:endParaRPr lang="en-US" sz="9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3600" b="1" dirty="0">
                <a:solidFill>
                  <a:srgbClr val="0F4C46"/>
                </a:solidFill>
                <a:latin typeface="Calibri" pitchFamily="34" charset="0"/>
                <a:ea typeface="Calibri" pitchFamily="34" charset="-122"/>
                <a:cs typeface="Calibri" pitchFamily="34" charset="-120"/>
              </a:rPr>
              <a:t>Midpoint Demo and Adjustment Memo</a:t>
            </a:r>
            <a:endParaRPr lang="en-US" sz="3600" dirty="0"/>
          </a:p>
        </p:txBody>
      </p:sp>
      <p:sp>
        <p:nvSpPr>
          <p:cNvPr id="3" name="Text 1"/>
          <p:cNvSpPr txBox="1"/>
          <p:nvPr/>
        </p:nvSpPr>
        <p:spPr>
          <a:xfrm>
            <a:off x="548640" y="2194560"/>
            <a:ext cx="8046720" cy="457200"/>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Calibrated multi-factor case routing for RescueNet</a:t>
            </a:r>
            <a:endParaRPr lang="en-US" sz="2000" dirty="0"/>
          </a:p>
        </p:txBody>
      </p:sp>
      <p:sp>
        <p:nvSpPr>
          <p:cNvPr id="4" name="Text 2"/>
          <p:cNvSpPr txBox="1"/>
          <p:nvPr/>
        </p:nvSpPr>
        <p:spPr>
          <a:xfrm>
            <a:off x="548640" y="2834640"/>
            <a:ext cx="8046720" cy="365760"/>
          </a:xfrm>
          <a:prstGeom prst="rect">
            <a:avLst/>
          </a:prstGeom>
          <a:noFill/>
          <a:ln/>
        </p:spPr>
        <p:txBody>
          <a:bodyPr wrap="square" lIns="0" tIns="0" rIns="0" bIns="0" rtlCol="0" anchor="ctr"/>
          <a:lstStyle/>
          <a:p>
            <a:pPr indent="0" marL="0">
              <a:buNone/>
            </a:pPr>
            <a:r>
              <a:rPr lang="en-US" sz="1400" dirty="0">
                <a:solidFill>
                  <a:srgbClr val="5B6470"/>
                </a:solidFill>
                <a:latin typeface="Calibri" pitchFamily="34" charset="0"/>
                <a:ea typeface="Calibri" pitchFamily="34" charset="-122"/>
                <a:cs typeface="Calibri" pitchFamily="34" charset="-120"/>
              </a:rPr>
              <a:t>Manoj Venkatachalaiah  |  CISC 699, Dr. Shaalan  |  Prepared October 21, 2026</a:t>
            </a:r>
            <a:endParaRPr lang="en-US" sz="1400" dirty="0"/>
          </a:p>
        </p:txBody>
      </p:sp>
      <p:sp>
        <p:nvSpPr>
          <p:cNvPr id="5" name="Text 3"/>
          <p:cNvSpPr txBox="1"/>
          <p:nvPr/>
        </p:nvSpPr>
        <p:spPr>
          <a:xfrm>
            <a:off x="548640" y="3657600"/>
            <a:ext cx="8046720" cy="640080"/>
          </a:xfrm>
          <a:prstGeom prst="rect">
            <a:avLst/>
          </a:prstGeom>
          <a:noFill/>
          <a:ln/>
        </p:spPr>
        <p:txBody>
          <a:bodyPr wrap="square" lIns="0" tIns="0" rIns="0" bIns="0" rtlCol="0" anchor="ctr"/>
          <a:lstStyle/>
          <a:p>
            <a:pPr indent="0" marL="0">
              <a:buNone/>
            </a:pPr>
            <a:r>
              <a:rPr lang="en-US" sz="1300" dirty="0">
                <a:solidFill>
                  <a:srgbClr val="9B2226"/>
                </a:solidFill>
                <a:latin typeface="Calibri" pitchFamily="34" charset="0"/>
                <a:ea typeface="Calibri" pitchFamily="34" charset="-122"/>
                <a:cs typeface="Calibri" pitchFamily="34" charset="-120"/>
              </a:rPr>
              <a:t>Submitted late (due Oct 18). No live review took place, so this deck is the slide-supported demo; everything on it comes from real runs.</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The project as it is, not as I hoped</a:t>
            </a:r>
            <a:endParaRPr lang="en-US" sz="2400" dirty="0"/>
          </a:p>
        </p:txBody>
      </p:sp>
      <p:sp>
        <p:nvSpPr>
          <p:cNvPr id="4" name="Text 1"/>
          <p:cNvSpPr txBox="1"/>
          <p:nvPr/>
        </p:nvSpPr>
        <p:spPr>
          <a:xfrm>
            <a:off x="457200" y="1005840"/>
            <a:ext cx="822960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Built and working: AHP calculator, the v2 classifier path, 108 tests, an evaluation harness with pre-registered cases.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Deployed this week behind a flag (default unchanged): 13 of 13 measured cases assigned, 0 errors.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Not shown: that v2 routes better. By raw score v1 and v2 each match 3 of 6 annotated cases and pick the same winners.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Biggest finding: the scoring formula, not the weighting method, limits correctness.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Biggest weakness: independence. One annotator, one judge (AI-proposed judgments), no supervisor review, 8 synthetic cases.</a:t>
            </a:r>
            <a:endParaRPr lang="en-US" sz="16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Current-state architecture</a:t>
            </a:r>
            <a:endParaRPr lang="en-US" sz="2400" dirty="0"/>
          </a:p>
        </p:txBody>
      </p:sp>
      <p:pic>
        <p:nvPicPr>
          <p:cNvPr id="4" name="Image 0" descr="/private/tmp/claude-501/-Users-manoj-Downloads-rescuenet/100ff9b7-663d-40a3-a10a-15f411dfefe9/scratchpad/mid/arch.png">    </p:cNvPr>
          <p:cNvPicPr>
            <a:picLocks noChangeAspect="1"/>
          </p:cNvPicPr>
          <p:nvPr/>
        </p:nvPicPr>
        <p:blipFill>
          <a:blip r:embed="rId1"/>
          <a:stretch>
            <a:fillRect/>
          </a:stretch>
        </p:blipFill>
        <p:spPr>
          <a:xfrm>
            <a:off x="548640" y="868680"/>
            <a:ext cx="8046720" cy="4389120"/>
          </a:xfrm>
          <a:prstGeom prst="rect">
            <a:avLst/>
          </a:prstGeom>
        </p:spPr>
      </p:pic>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Deployed pipeline: same reports, v1 vs v2</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234440"/>
                <a:gridCol w="1965960"/>
                <a:gridCol w="1965960"/>
                <a:gridCol w="1828800"/>
                <a:gridCol w="141732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v1 (llm): top two weights</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v2 (blend): top two weights</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v2 archetype probabilities</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injured + loose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vet care 0.45, pickup urgency 0.35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vet care 0.38, pickup urgency 0.23</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IC 0.65 / UT 0.30 / SR 0.05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same: manhattan-acc</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injured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vet care 0.50, pickup urgency 0.25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vet care 0.52, pickup urgency 0.16</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IC 0.95 / UT 0.00 / SR 0.05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same: manhattan-acc</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loose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pickup urgency 0.50, proximity 0.30</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proximity 0.38, pickup urgency 0.37</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IC 0.00 / UT 0.95 / SR 0.05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same: manhattan-acc</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5" name="Text 1"/>
          <p:cNvSpPr txBox="1"/>
          <p:nvPr/>
        </p:nvSpPr>
        <p:spPr>
          <a:xfrm>
            <a:off x="365760" y="3200400"/>
            <a:ext cx="841248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Injured case: vet care dominates in both. Loose healthy dog: pickup and proximity dominate.</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Every scenario was won by the same shelter in both modes (KI-17): this run shows no regression, not better routing.</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Latency, errors, and rollback on the deployed pipeline</a:t>
            </a:r>
            <a:endParaRPr lang="en-US" sz="2400" dirty="0"/>
          </a:p>
        </p:txBody>
      </p:sp>
      <p:graphicFrame>
        <p:nvGraphicFramePr>
          <p:cNvPr id="4" name="Chart 0" descr=""/>
          <p:cNvGraphicFramePr/>
          <p:nvPr/>
        </p:nvGraphicFramePr>
        <p:xfrm>
          <a:off x="365760" y="91440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035040" y="914400"/>
            <a:ext cx="1417320" cy="548640"/>
          </a:xfrm>
          <a:prstGeom prst="rect">
            <a:avLst/>
          </a:prstGeom>
          <a:noFill/>
          <a:ln/>
        </p:spPr>
        <p:txBody>
          <a:bodyPr wrap="square" lIns="0" tIns="0" rIns="0" bIns="0" rtlCol="0" anchor="ctr"/>
          <a:lstStyle/>
          <a:p>
            <a:pPr algn="l" indent="0" marL="0">
              <a:buNone/>
            </a:pPr>
            <a:r>
              <a:rPr lang="en-US" sz="2400" b="1" dirty="0">
                <a:solidFill>
                  <a:srgbClr val="0F4C46"/>
                </a:solidFill>
                <a:latin typeface="Calibri" pitchFamily="34" charset="0"/>
                <a:ea typeface="Calibri" pitchFamily="34" charset="-122"/>
                <a:cs typeface="Calibri" pitchFamily="34" charset="-120"/>
              </a:rPr>
              <a:t>13/13</a:t>
            </a:r>
            <a:endParaRPr lang="en-US" sz="2400" dirty="0"/>
          </a:p>
        </p:txBody>
      </p:sp>
      <p:sp>
        <p:nvSpPr>
          <p:cNvPr id="6" name="Text 2"/>
          <p:cNvSpPr txBox="1"/>
          <p:nvPr/>
        </p:nvSpPr>
        <p:spPr>
          <a:xfrm>
            <a:off x="6035040" y="1481328"/>
            <a:ext cx="1417320" cy="6858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cases ASSIGNED, no escalations</a:t>
            </a:r>
            <a:endParaRPr lang="en-US" sz="1000" dirty="0"/>
          </a:p>
        </p:txBody>
      </p:sp>
      <p:sp>
        <p:nvSpPr>
          <p:cNvPr id="7" name="Text 3"/>
          <p:cNvSpPr txBox="1"/>
          <p:nvPr/>
        </p:nvSpPr>
        <p:spPr>
          <a:xfrm>
            <a:off x="7680960" y="914400"/>
            <a:ext cx="1417320" cy="548640"/>
          </a:xfrm>
          <a:prstGeom prst="rect">
            <a:avLst/>
          </a:prstGeom>
          <a:noFill/>
          <a:ln/>
        </p:spPr>
        <p:txBody>
          <a:bodyPr wrap="square" lIns="0" tIns="0" rIns="0" bIns="0" rtlCol="0" anchor="ctr"/>
          <a:lstStyle/>
          <a:p>
            <a:pPr algn="l" indent="0" marL="0">
              <a:buNone/>
            </a:pPr>
            <a:r>
              <a:rPr lang="en-US" sz="2400" b="1" dirty="0">
                <a:solidFill>
                  <a:srgbClr val="9B2226"/>
                </a:solidFill>
                <a:latin typeface="Calibri" pitchFamily="34" charset="0"/>
                <a:ea typeface="Calibri" pitchFamily="34" charset="-122"/>
                <a:cs typeface="Calibri" pitchFamily="34" charset="-120"/>
              </a:rPr>
              <a:t>0</a:t>
            </a:r>
            <a:endParaRPr lang="en-US" sz="2400" dirty="0"/>
          </a:p>
        </p:txBody>
      </p:sp>
      <p:sp>
        <p:nvSpPr>
          <p:cNvPr id="8" name="Text 4"/>
          <p:cNvSpPr txBox="1"/>
          <p:nvPr/>
        </p:nvSpPr>
        <p:spPr>
          <a:xfrm>
            <a:off x="7680960" y="1481328"/>
            <a:ext cx="1417320" cy="6858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error lines across the 9 pipeline functions</a:t>
            </a:r>
            <a:endParaRPr lang="en-US" sz="1000" dirty="0"/>
          </a:p>
        </p:txBody>
      </p:sp>
      <p:sp>
        <p:nvSpPr>
          <p:cNvPr id="9" name="Text 5"/>
          <p:cNvSpPr txBox="1"/>
          <p:nvPr/>
        </p:nvSpPr>
        <p:spPr>
          <a:xfrm>
            <a:off x="6035040" y="2331720"/>
            <a:ext cx="1417320" cy="548640"/>
          </a:xfrm>
          <a:prstGeom prst="rect">
            <a:avLst/>
          </a:prstGeom>
          <a:noFill/>
          <a:ln/>
        </p:spPr>
        <p:txBody>
          <a:bodyPr wrap="square" lIns="0" tIns="0" rIns="0" bIns="0" rtlCol="0" anchor="ctr"/>
          <a:lstStyle/>
          <a:p>
            <a:pPr algn="l" indent="0" marL="0">
              <a:buNone/>
            </a:pPr>
            <a:r>
              <a:rPr lang="en-US" sz="2400" b="1" dirty="0">
                <a:solidFill>
                  <a:srgbClr val="1D4E89"/>
                </a:solidFill>
                <a:latin typeface="Calibri" pitchFamily="34" charset="0"/>
                <a:ea typeface="Calibri" pitchFamily="34" charset="-122"/>
                <a:cs typeface="Calibri" pitchFamily="34" charset="-120"/>
              </a:rPr>
              <a:t>24.7 | 24.1</a:t>
            </a:r>
            <a:endParaRPr lang="en-US" sz="2400" dirty="0"/>
          </a:p>
        </p:txBody>
      </p:sp>
      <p:sp>
        <p:nvSpPr>
          <p:cNvPr id="10" name="Text 6"/>
          <p:cNvSpPr txBox="1"/>
          <p:nvPr/>
        </p:nvSpPr>
        <p:spPr>
          <a:xfrm>
            <a:off x="6035040" y="2898648"/>
            <a:ext cx="1417320" cy="6858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median seconds, llm | blend</a:t>
            </a:r>
            <a:endParaRPr lang="en-US" sz="1000" dirty="0"/>
          </a:p>
        </p:txBody>
      </p:sp>
      <p:sp>
        <p:nvSpPr>
          <p:cNvPr id="11" name="Text 7"/>
          <p:cNvSpPr txBox="1"/>
          <p:nvPr/>
        </p:nvSpPr>
        <p:spPr>
          <a:xfrm>
            <a:off x="7680960" y="2331720"/>
            <a:ext cx="1417320" cy="548640"/>
          </a:xfrm>
          <a:prstGeom prst="rect">
            <a:avLst/>
          </a:prstGeom>
          <a:noFill/>
          <a:ln/>
        </p:spPr>
        <p:txBody>
          <a:bodyPr wrap="square" lIns="0" tIns="0" rIns="0" bIns="0" rtlCol="0" anchor="ctr"/>
          <a:lstStyle/>
          <a:p>
            <a:pPr algn="l" indent="0" marL="0">
              <a:buNone/>
            </a:pPr>
            <a:r>
              <a:rPr lang="en-US" sz="2400" b="1" dirty="0">
                <a:solidFill>
                  <a:srgbClr val="B7791F"/>
                </a:solidFill>
                <a:latin typeface="Calibri" pitchFamily="34" charset="0"/>
                <a:ea typeface="Calibri" pitchFamily="34" charset="-122"/>
                <a:cs typeface="Calibri" pitchFamily="34" charset="-120"/>
              </a:rPr>
              <a:t>7.3 s</a:t>
            </a:r>
            <a:endParaRPr lang="en-US" sz="2400" dirty="0"/>
          </a:p>
        </p:txBody>
      </p:sp>
      <p:sp>
        <p:nvSpPr>
          <p:cNvPr id="12" name="Text 8"/>
          <p:cNvSpPr txBox="1"/>
          <p:nvPr/>
        </p:nvSpPr>
        <p:spPr>
          <a:xfrm>
            <a:off x="7680960" y="2898648"/>
            <a:ext cx="1417320" cy="68580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rollback (env var); next case stored no v2 fields</a:t>
            </a:r>
            <a:endParaRPr lang="en-US" sz="1000" dirty="0"/>
          </a:p>
        </p:txBody>
      </p:sp>
      <p:sp>
        <p:nvSpPr>
          <p:cNvPr id="13" name="Text 9"/>
          <p:cNvSpPr txBox="1"/>
          <p:nvPr/>
        </p:nvSpPr>
        <p:spPr>
          <a:xfrm>
            <a:off x="6035040" y="3749040"/>
            <a:ext cx="2926080" cy="73152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needs-profile Lambda median: 3.7 s (llm), 3.3 s (blend).</a:t>
            </a:r>
            <a:endParaRPr lang="en-US" sz="11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Offline comparison: v1 vs v2 on the pre-registered cases</a:t>
            </a:r>
            <a:endParaRPr lang="en-US" sz="2400" dirty="0"/>
          </a:p>
        </p:txBody>
      </p:sp>
      <p:graphicFrame>
        <p:nvGraphicFramePr>
          <p:cNvPr id="4" name="Chart 0" descr=""/>
          <p:cNvGraphicFramePr/>
          <p:nvPr/>
        </p:nvGraphicFramePr>
        <p:xfrm>
          <a:off x="365760" y="914400"/>
          <a:ext cx="475488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303520" y="1005840"/>
            <a:ext cx="347472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Frozen v1 = 7 live profiles recorded once, replayed.</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v1 and v2 pick the same shelter in every case by raw score.</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Classifier: 7 of 7 agree with the annotation; probabilities are near one-hot.</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Sensitivity: 60 one-step perturbations, largest flip count 1 (limit: fewer than 2).</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The formula counts shelter capacity twice and misses SYN-01.</a:t>
            </a:r>
            <a:endParaRPr lang="en-US" sz="13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Requirements and success criteria: achieved, partial, not yet</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914400"/>
                <a:gridCol w="4937760"/>
                <a:gridCol w="25603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SC1</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Species check fixed and regression-tested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Achieved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DDF0E4"/>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SC2</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AHP CR &lt; 0.10; sensitivity (60 perturbations)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Achieved; validity partial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1D6"/>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SC3</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v2 at least as good as v1 on annotated cases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Met, but weak (ties by raw score)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1D6"/>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SC4</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Deployed, no regression, about 30 s, rollback</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Achieved (small sample)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DDF0E4"/>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SC5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Supervisor acceptance at the midpoint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Not yet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FR7/FR8</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Convex blend; safe fallback</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Achieved (fallback offline)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DDF0E4"/>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NFR6</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Reproducible weights and scores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Achieved (identical hashes)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DDF0E4"/>
                    </a:solidFill>
                  </a:tcPr>
                </a:tc>
              </a:tr>
              <a:tr h="384048">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NFR7</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Fairness by shelter characteristic</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Cut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bl>
          </a:graphicData>
        </a:graphic>
      </p:graphicFrame>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Critique received: Hard Stop 3 scored 90/100</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3291840"/>
                <a:gridCol w="3566160"/>
                <a:gridCol w="15544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Instructor priority</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 Non-production deployment, latency, rollback</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Deployed and measured 2026-10-18</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Done (one environment)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1D6"/>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 Supervisor review with a record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On the critical path before Hard Stop 4</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 Independent validation (annotator, judge)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Second annotator and judge; disagreement analysis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4 Isolate the scoring formula</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Controlled ablation: formula by weights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5 Human review of AI-generated work</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Written review of scoring, fallback, harness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r h="45720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6 More cases; privacy-reviewed real case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Pre-registered expansion; real case if permitted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BE0DD"/>
                    </a:solidFill>
                  </a:tcPr>
                </a:tc>
              </a:tr>
            </a:tbl>
          </a:graphicData>
        </a:graphic>
      </p:graphicFrame>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Scope adjustment: keep, cut, defer, protect</a:t>
            </a:r>
            <a:endParaRPr lang="en-US" sz="2400" dirty="0"/>
          </a:p>
        </p:txBody>
      </p:sp>
      <p:sp>
        <p:nvSpPr>
          <p:cNvPr id="4" name="Shape 1"/>
          <p:cNvSpPr/>
          <p:nvPr/>
        </p:nvSpPr>
        <p:spPr>
          <a:xfrm>
            <a:off x="365760" y="914400"/>
            <a:ext cx="4114800" cy="1783080"/>
          </a:xfrm>
          <a:prstGeom prst="rect">
            <a:avLst/>
          </a:prstGeom>
          <a:solidFill>
            <a:srgbClr val="FFFFFF"/>
          </a:solidFill>
          <a:ln w="19050">
            <a:solidFill>
              <a:srgbClr val="2D6A4F"/>
            </a:solidFill>
            <a:prstDash val="solid"/>
          </a:ln>
        </p:spPr>
      </p:sp>
      <p:sp>
        <p:nvSpPr>
          <p:cNvPr id="5" name="Text 2"/>
          <p:cNvSpPr txBox="1"/>
          <p:nvPr/>
        </p:nvSpPr>
        <p:spPr>
          <a:xfrm>
            <a:off x="475488" y="969264"/>
            <a:ext cx="3840480" cy="274320"/>
          </a:xfrm>
          <a:prstGeom prst="rect">
            <a:avLst/>
          </a:prstGeom>
          <a:noFill/>
          <a:ln/>
        </p:spPr>
        <p:txBody>
          <a:bodyPr wrap="square" lIns="0" tIns="0" rIns="0" bIns="0" rtlCol="0" anchor="ctr"/>
          <a:lstStyle/>
          <a:p>
            <a:pPr indent="0" marL="0">
              <a:buNone/>
            </a:pPr>
            <a:r>
              <a:rPr lang="en-US" sz="1300" b="1" dirty="0">
                <a:solidFill>
                  <a:srgbClr val="2D6A4F"/>
                </a:solidFill>
                <a:latin typeface="Calibri" pitchFamily="34" charset="0"/>
                <a:ea typeface="Calibri" pitchFamily="34" charset="-122"/>
                <a:cs typeface="Calibri" pitchFamily="34" charset="-120"/>
              </a:rPr>
              <a:t>PROTECT</a:t>
            </a:r>
            <a:endParaRPr lang="en-US" sz="1300" dirty="0"/>
          </a:p>
        </p:txBody>
      </p:sp>
      <p:sp>
        <p:nvSpPr>
          <p:cNvPr id="6" name="Text 3"/>
          <p:cNvSpPr txBox="1"/>
          <p:nvPr/>
        </p:nvSpPr>
        <p:spPr>
          <a:xfrm>
            <a:off x="475488" y="1280160"/>
            <a:ext cx="3886200"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Controlled ablation: formula vs weights</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Independent annotator and judge</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Student-led review records</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Pre-registration and reproducibility</a:t>
            </a:r>
            <a:endParaRPr lang="en-US" sz="1050" dirty="0"/>
          </a:p>
        </p:txBody>
      </p:sp>
      <p:sp>
        <p:nvSpPr>
          <p:cNvPr id="7" name="Shape 4"/>
          <p:cNvSpPr/>
          <p:nvPr/>
        </p:nvSpPr>
        <p:spPr>
          <a:xfrm>
            <a:off x="4663440" y="914400"/>
            <a:ext cx="4114800" cy="1783080"/>
          </a:xfrm>
          <a:prstGeom prst="rect">
            <a:avLst/>
          </a:prstGeom>
          <a:solidFill>
            <a:srgbClr val="FFFFFF"/>
          </a:solidFill>
          <a:ln w="19050">
            <a:solidFill>
              <a:srgbClr val="1D4E89"/>
            </a:solidFill>
            <a:prstDash val="solid"/>
          </a:ln>
        </p:spPr>
      </p:sp>
      <p:sp>
        <p:nvSpPr>
          <p:cNvPr id="8" name="Text 5"/>
          <p:cNvSpPr txBox="1"/>
          <p:nvPr/>
        </p:nvSpPr>
        <p:spPr>
          <a:xfrm>
            <a:off x="4773168" y="969264"/>
            <a:ext cx="3840480" cy="274320"/>
          </a:xfrm>
          <a:prstGeom prst="rect">
            <a:avLst/>
          </a:prstGeom>
          <a:noFill/>
          <a:ln/>
        </p:spPr>
        <p:txBody>
          <a:bodyPr wrap="square" lIns="0" tIns="0" rIns="0" bIns="0" rtlCol="0" anchor="ctr"/>
          <a:lstStyle/>
          <a:p>
            <a:pPr indent="0" marL="0">
              <a:buNone/>
            </a:pPr>
            <a:r>
              <a:rPr lang="en-US" sz="1300" b="1" dirty="0">
                <a:solidFill>
                  <a:srgbClr val="1D4E89"/>
                </a:solidFill>
                <a:latin typeface="Calibri" pitchFamily="34" charset="0"/>
                <a:ea typeface="Calibri" pitchFamily="34" charset="-122"/>
                <a:cs typeface="Calibri" pitchFamily="34" charset="-120"/>
              </a:rPr>
              <a:t>KEEP</a:t>
            </a:r>
            <a:endParaRPr lang="en-US" sz="1300" dirty="0"/>
          </a:p>
        </p:txBody>
      </p:sp>
      <p:sp>
        <p:nvSpPr>
          <p:cNvPr id="9" name="Text 6"/>
          <p:cNvSpPr txBox="1"/>
          <p:nvPr/>
        </p:nvSpPr>
        <p:spPr>
          <a:xfrm>
            <a:off x="4773168" y="1280160"/>
            <a:ext cx="3886200"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Blend design and the fallback (supervisor-approved)</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Harness and sensitivity check</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Stop treating the blend as proven better</a:t>
            </a:r>
            <a:endParaRPr lang="en-US" sz="1050" dirty="0"/>
          </a:p>
        </p:txBody>
      </p:sp>
      <p:sp>
        <p:nvSpPr>
          <p:cNvPr id="10" name="Shape 7"/>
          <p:cNvSpPr/>
          <p:nvPr/>
        </p:nvSpPr>
        <p:spPr>
          <a:xfrm>
            <a:off x="365760" y="2834640"/>
            <a:ext cx="4114800" cy="1783080"/>
          </a:xfrm>
          <a:prstGeom prst="rect">
            <a:avLst/>
          </a:prstGeom>
          <a:solidFill>
            <a:srgbClr val="FFFFFF"/>
          </a:solidFill>
          <a:ln w="19050">
            <a:solidFill>
              <a:srgbClr val="666666"/>
            </a:solidFill>
            <a:prstDash val="solid"/>
          </a:ln>
        </p:spPr>
      </p:sp>
      <p:sp>
        <p:nvSpPr>
          <p:cNvPr id="11" name="Text 8"/>
          <p:cNvSpPr txBox="1"/>
          <p:nvPr/>
        </p:nvSpPr>
        <p:spPr>
          <a:xfrm>
            <a:off x="475488" y="2889504"/>
            <a:ext cx="3840480" cy="274320"/>
          </a:xfrm>
          <a:prstGeom prst="rect">
            <a:avLst/>
          </a:prstGeom>
          <a:noFill/>
          <a:ln/>
        </p:spPr>
        <p:txBody>
          <a:bodyPr wrap="square" lIns="0" tIns="0" rIns="0" bIns="0" rtlCol="0" anchor="ctr"/>
          <a:lstStyle/>
          <a:p>
            <a:pPr indent="0" marL="0">
              <a:buNone/>
            </a:pPr>
            <a:r>
              <a:rPr lang="en-US" sz="1300" b="1" dirty="0">
                <a:solidFill>
                  <a:srgbClr val="666666"/>
                </a:solidFill>
                <a:latin typeface="Calibri" pitchFamily="34" charset="0"/>
                <a:ea typeface="Calibri" pitchFamily="34" charset="-122"/>
                <a:cs typeface="Calibri" pitchFamily="34" charset="-120"/>
              </a:rPr>
              <a:t>CUT</a:t>
            </a:r>
            <a:endParaRPr lang="en-US" sz="1300" dirty="0"/>
          </a:p>
        </p:txBody>
      </p:sp>
      <p:sp>
        <p:nvSpPr>
          <p:cNvPr id="12" name="Text 9"/>
          <p:cNvSpPr txBox="1"/>
          <p:nvPr/>
        </p:nvSpPr>
        <p:spPr>
          <a:xfrm>
            <a:off x="475488" y="3200400"/>
            <a:ext cx="3886200"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Fairness-by-characteristic check (NFR7)</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Why: n = 8; one shelter won all 13 measured cases</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Next if more must go: classifier calibration</a:t>
            </a:r>
            <a:endParaRPr lang="en-US" sz="1050" dirty="0"/>
          </a:p>
        </p:txBody>
      </p:sp>
      <p:sp>
        <p:nvSpPr>
          <p:cNvPr id="13" name="Shape 10"/>
          <p:cNvSpPr/>
          <p:nvPr/>
        </p:nvSpPr>
        <p:spPr>
          <a:xfrm>
            <a:off x="4663440" y="2834640"/>
            <a:ext cx="4114800" cy="1783080"/>
          </a:xfrm>
          <a:prstGeom prst="rect">
            <a:avLst/>
          </a:prstGeom>
          <a:solidFill>
            <a:srgbClr val="FFFFFF"/>
          </a:solidFill>
          <a:ln w="19050">
            <a:solidFill>
              <a:srgbClr val="B7791F"/>
            </a:solidFill>
            <a:prstDash val="solid"/>
          </a:ln>
        </p:spPr>
      </p:sp>
      <p:sp>
        <p:nvSpPr>
          <p:cNvPr id="14" name="Text 11"/>
          <p:cNvSpPr txBox="1"/>
          <p:nvPr/>
        </p:nvSpPr>
        <p:spPr>
          <a:xfrm>
            <a:off x="4773168" y="2889504"/>
            <a:ext cx="38404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DEFER</a:t>
            </a:r>
            <a:endParaRPr lang="en-US" sz="1300" dirty="0"/>
          </a:p>
        </p:txBody>
      </p:sp>
      <p:sp>
        <p:nvSpPr>
          <p:cNvPr id="15" name="Text 12"/>
          <p:cNvSpPr txBox="1"/>
          <p:nvPr/>
        </p:nvSpPr>
        <p:spPr>
          <a:xfrm>
            <a:off x="4773168" y="3200400"/>
            <a:ext cx="3886200"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Promoting blend to default (after the ablation)</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Classifier calibration</a:t>
            </a:r>
            <a:endParaRPr lang="en-US" sz="1050" dirty="0"/>
          </a:p>
          <a:p>
            <a:pPr marL="342900" indent="-342900">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Real-case evaluation (needs PII review)</a:t>
            </a:r>
            <a:endParaRPr lang="en-US" sz="10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Critical path, weeks 8 to 14</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1188720"/>
                <a:gridCol w="2194560"/>
                <a:gridCol w="502920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Non-negotiable milestone</a:t>
                      </a:r>
                      <a:endParaRPr lang="en-US" sz="11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0F4C46"/>
                    </a:solidFill>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Oct 25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Hard Stop 4</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Pre-registered new cases; ablation run; second annotator; supervisor review</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Nov 1</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Results memo</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Ablation results with uncertainty; promotion decision</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Nov 8</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Hard Stop 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Isolated-environment measurement; clean synth; validation archive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Nov 15</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Full draft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Report with results, limitations, independent-review evidence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Nov 22 / 29</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Hard Stop 6 / rehearsal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Draft, deck, final test evidence; package check</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41148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Dec 6</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Hard Stop 7, final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Final artifact, report, demo</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What I am not claiming</a:t>
            </a:r>
            <a:endParaRPr lang="en-US" sz="2400" dirty="0"/>
          </a:p>
        </p:txBody>
      </p:sp>
      <p:sp>
        <p:nvSpPr>
          <p:cNvPr id="4" name="Text 1"/>
          <p:cNvSpPr txBox="1"/>
          <p:nvPr/>
        </p:nvSpPr>
        <p:spPr>
          <a:xfrm>
            <a:off x="457200" y="1005840"/>
            <a:ext cx="822960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That v2 routes better than v1. By raw score they are identical on every case.</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That the latency numbers are a production benchmark: one environment, demo data, a small sample, cold starts at each block.</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That the weights are right. They are consistent, single-judge, AI-proposed, with no source for their magnitudes.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That the live roster tests routing: one dominant shelter won every measured case in both modes.</a:t>
            </a:r>
            <a:endParaRPr lang="en-US" sz="1600" dirty="0"/>
          </a:p>
          <a:p>
            <a:pPr marL="342900" indent="-342900">
              <a:spcAft>
                <a:spcPts val="600"/>
              </a:spcAft>
              <a:buSzPct val="100000"/>
              <a:buChar char="•"/>
            </a:pPr>
            <a:r>
              <a:rPr lang="en-US" sz="1600" dirty="0">
                <a:solidFill>
                  <a:srgbClr val="1A1A1A"/>
                </a:solidFill>
                <a:latin typeface="Calibri" pitchFamily="34" charset="0"/>
                <a:ea typeface="Calibri" pitchFamily="34" charset="-122"/>
                <a:cs typeface="Calibri" pitchFamily="34" charset="-120"/>
              </a:rPr>
              <a:t>That anyone besides me has reviewed this work.</a:t>
            </a:r>
            <a:endParaRPr lang="en-US" sz="16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65760" y="228600"/>
            <a:ext cx="8412480" cy="54864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Supervisor prompt: what would I cut after week 8?</a:t>
            </a:r>
            <a:endParaRPr lang="en-US" sz="2400" dirty="0"/>
          </a:p>
        </p:txBody>
      </p:sp>
      <p:sp>
        <p:nvSpPr>
          <p:cNvPr id="4" name="Text 1"/>
          <p:cNvSpPr txBox="1"/>
          <p:nvPr/>
        </p:nvSpPr>
        <p:spPr>
          <a:xfrm>
            <a:off x="457200" y="1097280"/>
            <a:ext cx="8229600" cy="731520"/>
          </a:xfrm>
          <a:prstGeom prst="rect">
            <a:avLst/>
          </a:prstGeom>
          <a:noFill/>
          <a:ln/>
        </p:spPr>
        <p:txBody>
          <a:bodyPr wrap="square" lIns="0" tIns="0" rIns="0" bIns="0" rtlCol="0" anchor="ctr"/>
          <a:lstStyle/>
          <a:p>
            <a:pPr indent="0" marL="0">
              <a:buNone/>
            </a:pPr>
            <a:r>
              <a:rPr lang="en-US" sz="2400" b="1" dirty="0">
                <a:solidFill>
                  <a:srgbClr val="0F4C46"/>
                </a:solidFill>
                <a:latin typeface="Calibri" pitchFamily="34" charset="0"/>
                <a:ea typeface="Calibri" pitchFamily="34" charset="-122"/>
                <a:cs typeface="Calibri" pitchFamily="34" charset="-120"/>
              </a:rPr>
              <a:t>The fairness-by-shelter-characteristic check (NFR7), already cut.</a:t>
            </a:r>
            <a:endParaRPr lang="en-US" sz="2400" dirty="0"/>
          </a:p>
        </p:txBody>
      </p:sp>
      <p:sp>
        <p:nvSpPr>
          <p:cNvPr id="5" name="Text 2"/>
          <p:cNvSpPr txBox="1"/>
          <p:nvPr/>
        </p:nvSpPr>
        <p:spPr>
          <a:xfrm>
            <a:off x="457200" y="2103120"/>
            <a:ext cx="8229600" cy="2286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Next candidate: classifier calibration.</a:t>
            </a:r>
            <a:endParaRPr lang="en-US" sz="1800" dirty="0"/>
          </a:p>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Not to be cut: the controlled ablation, independent annotation, and the student-led review records.</a:t>
            </a:r>
            <a:endParaRPr lang="en-US" sz="1800" dirty="0"/>
          </a:p>
          <a:p>
            <a:pPr marL="342900" indent="-342900">
              <a:spcAft>
                <a:spcPts val="600"/>
              </a:spcAft>
              <a:buSzPct val="100000"/>
              <a:buChar char="•"/>
            </a:pPr>
            <a:r>
              <a:rPr lang="en-US" sz="1800" dirty="0">
                <a:solidFill>
                  <a:srgbClr val="1A1A1A"/>
                </a:solidFill>
                <a:latin typeface="Calibri" pitchFamily="34" charset="0"/>
                <a:ea typeface="Calibri" pitchFamily="34" charset="-122"/>
                <a:cs typeface="Calibri" pitchFamily="34" charset="-120"/>
              </a:rPr>
              <a:t>Everything else in the plan depends on knowing whether the weights or the formula drive routing.</a:t>
            </a:r>
            <a:endParaRPr lang="en-US" sz="18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47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CISC 699 Midpoint Demo</dc:title>
  <dc:subject>PptxGenJS Presentation</dc:subject>
  <dc:creator>Manoj Venkatachalaiah</dc:creator>
  <cp:lastModifiedBy>Manoj Venkatachalaiah</cp:lastModifiedBy>
  <cp:revision>1</cp:revision>
  <dcterms:created xsi:type="dcterms:W3CDTF">2026-10-21T16:35:08Z</dcterms:created>
  <dcterms:modified xsi:type="dcterms:W3CDTF">2026-10-21T16:35:08Z</dcterms:modified>
</cp:coreProperties>
</file>